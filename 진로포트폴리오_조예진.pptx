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embeddedFontLst>
    <p:embeddedFont>
      <p:font typeface="Pretendard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0"/>
            <a:ext cx="3840480" cy="6858000"/>
          </a:xfrm>
          <a:prstGeom prst="rect">
            <a:avLst/>
          </a:prstGeom>
          <a:solidFill>
            <a:srgbClr val="1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51215" y="0"/>
            <a:ext cx="63500" cy="6858000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201168" cy="1828800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C6F016"/>
                </a:solidFill>
                <a:latin typeface="Pretendard"/>
              </a:rPr>
              <a:t>CAREER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73152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Pretendard"/>
              </a:rPr>
              <a:t>진로 포트폴리오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C5D2E0"/>
                </a:solidFill>
                <a:latin typeface="Pretendard"/>
              </a:rPr>
              <a:t>나의 관심에서 시작해 목표를 향해 나아가는 성장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7315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조 예 진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DBDCE"/>
                </a:solidFill>
                <a:latin typeface="Pretendard"/>
              </a:rPr>
              <a:t>국민대학교 경영대학 재무금융전공  |  2023학번  |  3학년 2학기 재학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535" y="2377440"/>
            <a:ext cx="310896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000" b="1">
                <a:solidFill>
                  <a:srgbClr val="C6F016"/>
                </a:solidFill>
                <a:latin typeface="Pretendard"/>
              </a:rPr>
              <a:t>“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Pretendard"/>
              </a:rPr>
              <a:t>직접 경험해보며
하고 싶은 일을
찾아가는 중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ADBDCE"/>
                </a:solidFill>
                <a:latin typeface="Pretendar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6F016"/>
                </a:solidFill>
                <a:latin typeface="Pretendard"/>
              </a:rPr>
              <a:t>ABOUT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자기소개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77295" y="301752"/>
            <a:ext cx="457200" cy="457200"/>
          </a:xfrm>
          <a:prstGeom prst="round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E4F"/>
                </a:solidFill>
                <a:latin typeface="Pretendard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66160" cy="484632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91640" y="1783080"/>
            <a:ext cx="1280160" cy="1280160"/>
          </a:xfrm>
          <a:prstGeom prst="ellipse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F2E4F"/>
                </a:solidFill>
                <a:latin typeface="Pretendard"/>
              </a:rPr>
              <a:t>조예진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383280" cy="2834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6F016"/>
                </a:solidFill>
                <a:latin typeface="Pretendard"/>
              </a:rPr>
              <a:t>PROFILE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  <a:latin typeface="Pretendard"/>
              </a:rPr>
              <a:t>소속  </a:t>
            </a:r>
            <a:r>
              <a:rPr sz="1300" b="0">
                <a:solidFill>
                  <a:srgbClr val="C5D2E0"/>
                </a:solidFill>
                <a:latin typeface="Pretendard"/>
              </a:rPr>
              <a:t>국민대학교 경영대학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Pretendard"/>
              </a:rPr>
              <a:t>전공  </a:t>
            </a:r>
            <a:r>
              <a:rPr sz="1300" b="0">
                <a:solidFill>
                  <a:srgbClr val="C5D2E0"/>
                </a:solidFill>
                <a:latin typeface="Pretendard"/>
              </a:rPr>
              <a:t>재무금융전공 (2023학번)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Pretendard"/>
              </a:rPr>
              <a:t>학년  </a:t>
            </a:r>
            <a:r>
              <a:rPr sz="1300" b="0">
                <a:solidFill>
                  <a:srgbClr val="C5D2E0"/>
                </a:solidFill>
                <a:latin typeface="Pretendard"/>
              </a:rPr>
              <a:t>3학년 2학기 재학 중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Pretendard"/>
              </a:rPr>
              <a:t>목표  </a:t>
            </a:r>
            <a:r>
              <a:rPr sz="1300" b="0">
                <a:solidFill>
                  <a:srgbClr val="C5D2E0"/>
                </a:solidFill>
                <a:latin typeface="Pretendard"/>
              </a:rPr>
              <a:t>금융공기업 · 보험사 입사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Pretendard"/>
              </a:rPr>
              <a:t>관심  </a:t>
            </a:r>
            <a:r>
              <a:rPr sz="1300" b="0">
                <a:solidFill>
                  <a:srgbClr val="C5D2E0"/>
                </a:solidFill>
                <a:latin typeface="Pretendard"/>
              </a:rPr>
              <a:t>보험, 주택금융, 대외활동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7269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00200"/>
            <a:ext cx="6766560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7E9908"/>
                </a:solidFill>
                <a:latin typeface="Pretendard"/>
              </a:rPr>
              <a:t>한 줄 소개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E2933"/>
                </a:solidFill>
                <a:latin typeface="Pretendard"/>
              </a:rPr>
              <a:t>다양한 </a:t>
            </a:r>
            <a:r>
              <a:rPr sz="1500" b="1">
                <a:solidFill>
                  <a:srgbClr val="0F2E4F"/>
                </a:solidFill>
                <a:latin typeface="Pretendard"/>
              </a:rPr>
              <a:t>대외활동과 전공 수업</a:t>
            </a:r>
            <a:r>
              <a:rPr sz="1500" b="0">
                <a:solidFill>
                  <a:srgbClr val="1E2933"/>
                </a:solidFill>
                <a:latin typeface="Pretendard"/>
              </a:rPr>
              <a:t>을 통해 관심 분야를 직접 찾아온 재무금융 전공생입니다. 서포터즈·멘토링·프로젝트를 꾸준히 해오며 </a:t>
            </a:r>
            <a:r>
              <a:rPr sz="1500" b="1">
                <a:solidFill>
                  <a:srgbClr val="0F2E4F"/>
                </a:solidFill>
                <a:latin typeface="Pretendard"/>
              </a:rPr>
              <a:t>소통력과 팀워크</a:t>
            </a:r>
            <a:r>
              <a:rPr sz="1500" b="0">
                <a:solidFill>
                  <a:srgbClr val="1E2933"/>
                </a:solidFill>
                <a:latin typeface="Pretendard"/>
              </a:rPr>
              <a:t>를 길렀고, 이 경험을 바탕으로 원하는 진로를 구체화해 가고 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794760"/>
            <a:ext cx="2286000" cy="502920"/>
          </a:xfrm>
          <a:prstGeom prst="roundRect">
            <a:avLst/>
          </a:prstGeom>
          <a:solidFill>
            <a:srgbClr val="1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#재무금융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30568" y="3794760"/>
            <a:ext cx="2286000" cy="502920"/>
          </a:xfrm>
          <a:prstGeom prst="roundRect">
            <a:avLst/>
          </a:prstGeom>
          <a:solidFill>
            <a:srgbClr val="1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#서포터즈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2016" y="3794760"/>
            <a:ext cx="2286000" cy="502920"/>
          </a:xfrm>
          <a:prstGeom prst="roundRect">
            <a:avLst/>
          </a:prstGeom>
          <a:solidFill>
            <a:srgbClr val="1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#멘토링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453128"/>
            <a:ext cx="2286000" cy="502920"/>
          </a:xfrm>
          <a:prstGeom prst="roundRect">
            <a:avLst/>
          </a:prstGeom>
          <a:solidFill>
            <a:srgbClr val="1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#팀프로젝트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0568" y="4453128"/>
            <a:ext cx="2286000" cy="502920"/>
          </a:xfrm>
          <a:prstGeom prst="roundRect">
            <a:avLst/>
          </a:prstGeom>
          <a:solidFill>
            <a:srgbClr val="1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#콘텐츠제작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6" y="4453128"/>
            <a:ext cx="2286000" cy="502920"/>
          </a:xfrm>
          <a:prstGeom prst="roundRect">
            <a:avLst/>
          </a:prstGeom>
          <a:solidFill>
            <a:srgbClr val="1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#발표·협업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166360"/>
            <a:ext cx="7223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7E9908"/>
                </a:solidFill>
                <a:latin typeface="Pretendard"/>
              </a:rPr>
              <a:t>MY STRENGTHS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532120"/>
            <a:ext cx="2331720" cy="868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5641848"/>
            <a:ext cx="2057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0F2E4F"/>
                </a:solidFill>
                <a:latin typeface="Pretendard"/>
              </a:rPr>
              <a:t>소통력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B6B7B"/>
                </a:solidFill>
                <a:latin typeface="Pretendard"/>
              </a:rPr>
              <a:t>눈높이에 맞춘 전달·교육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30568" y="5532120"/>
            <a:ext cx="2331720" cy="868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5641848"/>
            <a:ext cx="2057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0F2E4F"/>
                </a:solidFill>
                <a:latin typeface="Pretendard"/>
              </a:rPr>
              <a:t>협업력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B6B7B"/>
                </a:solidFill>
                <a:latin typeface="Pretendard"/>
              </a:rPr>
              <a:t>팀 프로젝트·발표 경험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2016" y="5532120"/>
            <a:ext cx="2331720" cy="868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9176" y="5641848"/>
            <a:ext cx="2057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0F2E4F"/>
                </a:solidFill>
                <a:latin typeface="Pretendard"/>
              </a:rPr>
              <a:t>꾸준함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B6B7B"/>
                </a:solidFill>
                <a:latin typeface="Pretendard"/>
              </a:rPr>
              <a:t>장기 활동 완주 (10개월+)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6F016"/>
                </a:solidFill>
                <a:latin typeface="Pretendard"/>
              </a:rPr>
              <a:t>CAREER GOAL  ·  취업목표설정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진로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77295" y="301752"/>
            <a:ext cx="457200" cy="457200"/>
          </a:xfrm>
          <a:prstGeom prst="round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E4F"/>
                </a:solidFill>
                <a:latin typeface="Pretendard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109960" cy="132588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10515600" cy="1051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6F016"/>
                </a:solidFill>
                <a:latin typeface="Pretendard"/>
              </a:rPr>
              <a:t>TARGET</a:t>
            </a:r>
          </a:p>
          <a:p>
            <a:pPr algn="l">
              <a:spcBef>
                <a:spcPts val="400"/>
              </a:spcBef>
            </a:pPr>
            <a:r>
              <a:rPr sz="2400" b="1">
                <a:solidFill>
                  <a:srgbClr val="FFFFFF"/>
                </a:solidFill>
                <a:latin typeface="Pretendard"/>
              </a:rPr>
              <a:t>금융공기업  ·  보험사 입사</a:t>
            </a:r>
            <a:r>
              <a:rPr sz="1500" b="0">
                <a:solidFill>
                  <a:srgbClr val="C5D2E0"/>
                </a:solidFill>
                <a:latin typeface="Pretendard"/>
              </a:rPr>
              <a:t>   전공과 활동에서 관심이 생긴 두 가지 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7E9908"/>
                </a:solidFill>
                <a:latin typeface="Pretendard"/>
              </a:rPr>
              <a:t>관심을 가지게 된 계기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54406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5440680" cy="86868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11296"/>
            <a:ext cx="480060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retendard"/>
              </a:rPr>
              <a:t>보험사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C6F016"/>
                </a:solidFill>
                <a:latin typeface="Pretendard"/>
              </a:rPr>
              <a:t>전공 수업에서 시작된 관심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4800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3"/>
                </a:solidFill>
                <a:latin typeface="Pretendard"/>
              </a:rPr>
              <a:t>보험 관련 전공 수업을 들으며
보험이라는 분야에 흥미와 관심이 생김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257799"/>
            <a:ext cx="48006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350" b="1">
                <a:solidFill>
                  <a:srgbClr val="0F2E4F"/>
                </a:solidFill>
                <a:latin typeface="Pretendard"/>
              </a:rPr>
              <a:t>재무·보험 전공 지식 활용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350" b="1">
                <a:solidFill>
                  <a:srgbClr val="0F2E4F"/>
                </a:solidFill>
                <a:latin typeface="Pretendard"/>
              </a:rPr>
              <a:t>리스크·상품에 대한 이해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54406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3383280"/>
            <a:ext cx="5440680" cy="86868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511296"/>
            <a:ext cx="480060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retendard"/>
              </a:rPr>
              <a:t>금융공기업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C6F016"/>
                </a:solidFill>
                <a:latin typeface="Pretendard"/>
              </a:rPr>
              <a:t>서포터즈 활동에서 시작된 관심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389120"/>
            <a:ext cx="4800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3"/>
                </a:solidFill>
                <a:latin typeface="Pretendard"/>
              </a:rPr>
              <a:t>여신금융·주택금융 서포터즈 활동을 하며
공공 금융 분야에 관심이 생김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5257799"/>
            <a:ext cx="4800600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534924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350" b="1">
                <a:solidFill>
                  <a:srgbClr val="0F2E4F"/>
                </a:solidFill>
                <a:latin typeface="Pretendard"/>
              </a:rPr>
              <a:t>주택금융공사 (HF)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350" b="1">
                <a:solidFill>
                  <a:srgbClr val="0F2E4F"/>
                </a:solidFill>
                <a:latin typeface="Pretendard"/>
              </a:rPr>
              <a:t>예금보험공사 (KDIC)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6F016"/>
                </a:solidFill>
                <a:latin typeface="Pretendard"/>
              </a:rPr>
              <a:t>ACTIVITIES  ·  그간의 활동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주요 활동 타임라인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77295" y="301752"/>
            <a:ext cx="457200" cy="457200"/>
          </a:xfrm>
          <a:prstGeom prst="round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E4F"/>
                </a:solidFill>
                <a:latin typeface="Pretendard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463040"/>
            <a:ext cx="38100" cy="5120640"/>
          </a:xfrm>
          <a:prstGeom prst="rect">
            <a:avLst/>
          </a:prstGeom>
          <a:solidFill>
            <a:srgbClr val="1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07592" y="1572768"/>
            <a:ext cx="384048" cy="384048"/>
          </a:xfrm>
          <a:prstGeom prst="ellipse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777240" cy="45720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6F016"/>
                </a:solidFill>
                <a:latin typeface="Pretendard"/>
              </a:rPr>
              <a:t>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20" y="1481328"/>
            <a:ext cx="9692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20" y="1481328"/>
            <a:ext cx="63500" cy="841248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554480"/>
            <a:ext cx="9235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0F2E4F"/>
                </a:solidFill>
                <a:latin typeface="Pretendard"/>
              </a:rPr>
              <a:t>여신금융협회 서포터즈 「서포크레딧」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5B6B7B"/>
                </a:solidFill>
                <a:latin typeface="Pretendard"/>
              </a:rPr>
              <a:t>신용정보 대학생 대상 홍보 · 캠퍼스 어택 활동 진행</a:t>
            </a:r>
          </a:p>
        </p:txBody>
      </p:sp>
      <p:sp>
        <p:nvSpPr>
          <p:cNvPr id="13" name="Oval 12"/>
          <p:cNvSpPr/>
          <p:nvPr/>
        </p:nvSpPr>
        <p:spPr>
          <a:xfrm>
            <a:off x="1307592" y="2551176"/>
            <a:ext cx="384048" cy="384048"/>
          </a:xfrm>
          <a:prstGeom prst="ellipse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514600"/>
            <a:ext cx="777240" cy="45720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6F016"/>
                </a:solidFill>
                <a:latin typeface="Pretendard"/>
              </a:rPr>
              <a:t>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20" y="2459736"/>
            <a:ext cx="9692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4520" y="2459736"/>
            <a:ext cx="63500" cy="841248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532888"/>
            <a:ext cx="9235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0F2E4F"/>
                </a:solidFill>
                <a:latin typeface="Pretendard"/>
              </a:rPr>
              <a:t>EBS·국방부 군인자녀 멘토링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5B6B7B"/>
                </a:solidFill>
                <a:latin typeface="Pretendard"/>
              </a:rPr>
              <a:t>학생 4명 약 10개월 학습지도 및 정서지도</a:t>
            </a:r>
          </a:p>
        </p:txBody>
      </p:sp>
      <p:sp>
        <p:nvSpPr>
          <p:cNvPr id="18" name="Oval 17"/>
          <p:cNvSpPr/>
          <p:nvPr/>
        </p:nvSpPr>
        <p:spPr>
          <a:xfrm>
            <a:off x="1307592" y="3529584"/>
            <a:ext cx="384048" cy="384048"/>
          </a:xfrm>
          <a:prstGeom prst="ellipse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493008"/>
            <a:ext cx="777240" cy="45720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6F016"/>
                </a:solidFill>
                <a:latin typeface="Pretendard"/>
              </a:rPr>
              <a:t>2024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20" y="3438144"/>
            <a:ext cx="9692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4520" y="3438144"/>
            <a:ext cx="63500" cy="841248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3511296"/>
            <a:ext cx="9235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0F2E4F"/>
                </a:solidFill>
                <a:latin typeface="Pretendard"/>
              </a:rPr>
              <a:t>사회리더 멘토링 (멘티)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5B6B7B"/>
                </a:solidFill>
                <a:latin typeface="Pretendard"/>
              </a:rPr>
              <a:t>前 한영회계법인 대표님 강의 수강, 팀 협업 · 로드맵 발표</a:t>
            </a:r>
          </a:p>
        </p:txBody>
      </p:sp>
      <p:sp>
        <p:nvSpPr>
          <p:cNvPr id="23" name="Oval 22"/>
          <p:cNvSpPr/>
          <p:nvPr/>
        </p:nvSpPr>
        <p:spPr>
          <a:xfrm>
            <a:off x="1307592" y="4507992"/>
            <a:ext cx="384048" cy="384048"/>
          </a:xfrm>
          <a:prstGeom prst="ellipse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471416"/>
            <a:ext cx="777240" cy="45720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6F016"/>
                </a:solidFill>
                <a:latin typeface="Pretendard"/>
              </a:rPr>
              <a:t>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74520" y="4416552"/>
            <a:ext cx="9692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74520" y="4416552"/>
            <a:ext cx="63500" cy="841248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40" y="4489704"/>
            <a:ext cx="9235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0F2E4F"/>
                </a:solidFill>
                <a:latin typeface="Pretendard"/>
              </a:rPr>
              <a:t>연합동아리 「소우주」 기업 프로젝트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5B6B7B"/>
                </a:solidFill>
                <a:latin typeface="Pretendard"/>
              </a:rPr>
              <a:t>댄스트럭트 과제 — 해외 마케팅 · 매출 증진 프로젝트 진행 중</a:t>
            </a:r>
          </a:p>
        </p:txBody>
      </p:sp>
      <p:sp>
        <p:nvSpPr>
          <p:cNvPr id="28" name="Oval 27"/>
          <p:cNvSpPr/>
          <p:nvPr/>
        </p:nvSpPr>
        <p:spPr>
          <a:xfrm>
            <a:off x="1307592" y="5486400"/>
            <a:ext cx="384048" cy="384048"/>
          </a:xfrm>
          <a:prstGeom prst="ellipse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5449824"/>
            <a:ext cx="777240" cy="45720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6F016"/>
                </a:solidFill>
                <a:latin typeface="Pretendard"/>
              </a:rPr>
              <a:t>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74520" y="5394960"/>
            <a:ext cx="9692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74520" y="5394960"/>
            <a:ext cx="63500" cy="841248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40" y="5468112"/>
            <a:ext cx="9235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0F2E4F"/>
                </a:solidFill>
                <a:latin typeface="Pretendard"/>
              </a:rPr>
              <a:t>한국주택금융공사 서포터즈 2기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5B6B7B"/>
                </a:solidFill>
                <a:latin typeface="Pretendard"/>
              </a:rPr>
              <a:t>주택금융 콘텐츠 제작 및 활용 방안 프로젝트 수행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6F016"/>
                </a:solidFill>
                <a:latin typeface="Pretendard"/>
              </a:rPr>
              <a:t>HIGHLIGHTS  ·  활동에서 배운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핵심 활동 심화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77295" y="301752"/>
            <a:ext cx="457200" cy="457200"/>
          </a:xfrm>
          <a:prstGeom prst="round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E4F"/>
                </a:solidFill>
                <a:latin typeface="Pretendard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1109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201168" cy="1417320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73352"/>
            <a:ext cx="48463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F2E4F"/>
                </a:solidFill>
                <a:latin typeface="Pretendard"/>
              </a:rPr>
              <a:t>서포크레딧 · 주택금융 서포터즈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5B6B7B"/>
                </a:solidFill>
                <a:latin typeface="Pretendard"/>
              </a:rPr>
              <a:t>금융 콘텐츠 기획 · 제작, 홍보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37360"/>
            <a:ext cx="5486400" cy="960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10512"/>
            <a:ext cx="5212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7E9908"/>
                </a:solidFill>
                <a:latin typeface="Pretendard"/>
              </a:rPr>
              <a:t>배운 점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1E2933"/>
                </a:solidFill>
                <a:latin typeface="Pretendard"/>
              </a:rPr>
              <a:t>어려운 내용을 쉽게 전달하는 경험을 쌓으며
금융 분야에 대한 관심이 커짐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81528"/>
            <a:ext cx="11109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81528"/>
            <a:ext cx="201168" cy="141732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46120"/>
            <a:ext cx="48463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F2E4F"/>
                </a:solidFill>
                <a:latin typeface="Pretendard"/>
              </a:rPr>
              <a:t>군인자녀 · 사회리더 멘토링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5B6B7B"/>
                </a:solidFill>
                <a:latin typeface="Pretendard"/>
              </a:rPr>
              <a:t>장기 멘토링 · 멘티 경험 (각 10개월)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310128"/>
            <a:ext cx="5486400" cy="960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383280"/>
            <a:ext cx="5212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7E9908"/>
                </a:solidFill>
                <a:latin typeface="Pretendard"/>
              </a:rPr>
              <a:t>배운 점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1E2933"/>
                </a:solidFill>
                <a:latin typeface="Pretendard"/>
              </a:rPr>
              <a:t>꾸준히 관계를 이어가는 책임감과
경영·진로에 대한 시야를 넓힘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54296"/>
            <a:ext cx="11109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54296"/>
            <a:ext cx="201168" cy="1417320"/>
          </a:xfrm>
          <a:prstGeom prst="rect">
            <a:avLst/>
          </a:prstGeom>
          <a:solidFill>
            <a:srgbClr val="4F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18888"/>
            <a:ext cx="48463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F2E4F"/>
                </a:solidFill>
                <a:latin typeface="Pretendard"/>
              </a:rPr>
              <a:t>소우주 기업 프로젝트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5B6B7B"/>
                </a:solidFill>
                <a:latin typeface="Pretendard"/>
              </a:rPr>
              <a:t>해외 마케팅 · 매출 증진 과제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882896"/>
            <a:ext cx="5486400" cy="960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956048"/>
            <a:ext cx="5212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7E9908"/>
                </a:solidFill>
                <a:latin typeface="Pretendard"/>
              </a:rPr>
              <a:t>배운 점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250" b="1">
                <a:solidFill>
                  <a:srgbClr val="1E2933"/>
                </a:solidFill>
                <a:latin typeface="Pretendard"/>
              </a:rPr>
              <a:t>자료 분석과 팀 협업으로 문제를 풀어보며
실전 감각과 기획 역량을 기름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6F016"/>
                </a:solidFill>
                <a:latin typeface="Pretendard"/>
              </a:rPr>
              <a:t>ROADMAP  ·  앞으로의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목표 달성 로드맵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77295" y="301752"/>
            <a:ext cx="457200" cy="457200"/>
          </a:xfrm>
          <a:prstGeom prst="round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E4F"/>
                </a:solidFill>
                <a:latin typeface="Pretendard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10561320" cy="38100"/>
          </a:xfrm>
          <a:prstGeom prst="rect">
            <a:avLst/>
          </a:prstGeom>
          <a:solidFill>
            <a:srgbClr val="1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7632" y="1874520"/>
            <a:ext cx="512064" cy="512064"/>
          </a:xfrm>
          <a:prstGeom prst="ellipse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F2E4F"/>
                </a:solidFill>
                <a:latin typeface="Pretendard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2670048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2670048" cy="841248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6F016"/>
                </a:solidFill>
                <a:latin typeface="Pretendard"/>
              </a:rPr>
              <a:t>2026 하반기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Pretendard"/>
              </a:rPr>
              <a:t>현장실습 (인턴십)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520440"/>
            <a:ext cx="22860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250" b="0">
                <a:solidFill>
                  <a:srgbClr val="1E2933"/>
                </a:solidFill>
                <a:latin typeface="Pretendard"/>
              </a:rPr>
              <a:t>금융권 현장실습 참여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250" b="0">
                <a:solidFill>
                  <a:srgbClr val="1E2933"/>
                </a:solidFill>
                <a:latin typeface="Pretendard"/>
              </a:rPr>
              <a:t>실무와 직무를 직접 경험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250" b="0">
                <a:solidFill>
                  <a:srgbClr val="1E2933"/>
                </a:solidFill>
                <a:latin typeface="Pretendard"/>
              </a:rPr>
              <a:t>현업 분위기 · 일 익히기</a:t>
            </a:r>
          </a:p>
        </p:txBody>
      </p:sp>
      <p:sp>
        <p:nvSpPr>
          <p:cNvPr id="12" name="Oval 11"/>
          <p:cNvSpPr/>
          <p:nvPr/>
        </p:nvSpPr>
        <p:spPr>
          <a:xfrm>
            <a:off x="4462272" y="1874520"/>
            <a:ext cx="512064" cy="512064"/>
          </a:xfrm>
          <a:prstGeom prst="ellipse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F2E4F"/>
                </a:solidFill>
                <a:latin typeface="Pretendard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514600"/>
            <a:ext cx="2670048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2514600"/>
            <a:ext cx="2670048" cy="841248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6F016"/>
                </a:solidFill>
                <a:latin typeface="Pretendard"/>
              </a:rPr>
              <a:t>2027 상반기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Pretendard"/>
              </a:rPr>
              <a:t>역량 다지기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520440"/>
            <a:ext cx="22860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250" b="0">
                <a:solidFill>
                  <a:srgbClr val="1E2933"/>
                </a:solidFill>
                <a:latin typeface="Pretendard"/>
              </a:rPr>
              <a:t>관련 자격증 준비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250" b="0">
                <a:solidFill>
                  <a:srgbClr val="1E2933"/>
                </a:solidFill>
                <a:latin typeface="Pretendard"/>
              </a:rPr>
              <a:t>보험 · 재무 전공 심화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250" b="0">
                <a:solidFill>
                  <a:srgbClr val="1E2933"/>
                </a:solidFill>
                <a:latin typeface="Pretendard"/>
              </a:rPr>
              <a:t>자료 분석 역량 학습</a:t>
            </a:r>
          </a:p>
        </p:txBody>
      </p:sp>
      <p:sp>
        <p:nvSpPr>
          <p:cNvPr id="16" name="Oval 15"/>
          <p:cNvSpPr/>
          <p:nvPr/>
        </p:nvSpPr>
        <p:spPr>
          <a:xfrm>
            <a:off x="7296912" y="1874520"/>
            <a:ext cx="512064" cy="512064"/>
          </a:xfrm>
          <a:prstGeom prst="ellipse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F2E4F"/>
                </a:solidFill>
                <a:latin typeface="Pretendard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514600"/>
            <a:ext cx="2670048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2514600"/>
            <a:ext cx="2670048" cy="841248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6F016"/>
                </a:solidFill>
                <a:latin typeface="Pretendard"/>
              </a:rPr>
              <a:t>2027 하반기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Pretendard"/>
              </a:rPr>
              <a:t>취업 준비 집중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20440"/>
            <a:ext cx="22860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250" b="0">
                <a:solidFill>
                  <a:srgbClr val="1E2933"/>
                </a:solidFill>
                <a:latin typeface="Pretendard"/>
              </a:rPr>
              <a:t>자기소개서 · 포트폴리오 정리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250" b="0">
                <a:solidFill>
                  <a:srgbClr val="1E2933"/>
                </a:solidFill>
                <a:latin typeface="Pretendard"/>
              </a:rPr>
              <a:t>금융권 공채 · 인턴 지원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250" b="0">
                <a:solidFill>
                  <a:srgbClr val="1E2933"/>
                </a:solidFill>
                <a:latin typeface="Pretendard"/>
              </a:rPr>
              <a:t>현장실습 경험 정리</a:t>
            </a:r>
          </a:p>
        </p:txBody>
      </p:sp>
      <p:sp>
        <p:nvSpPr>
          <p:cNvPr id="20" name="Oval 19"/>
          <p:cNvSpPr/>
          <p:nvPr/>
        </p:nvSpPr>
        <p:spPr>
          <a:xfrm>
            <a:off x="10131552" y="1874520"/>
            <a:ext cx="512064" cy="512064"/>
          </a:xfrm>
          <a:prstGeom prst="ellipse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F2E4F"/>
                </a:solidFill>
                <a:latin typeface="Pretendard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514600"/>
            <a:ext cx="2670048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2514600"/>
            <a:ext cx="2670048" cy="841248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6F016"/>
                </a:solidFill>
                <a:latin typeface="Pretendard"/>
              </a:rPr>
              <a:t>2028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Pretendard"/>
              </a:rPr>
              <a:t>금융권 입사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520440"/>
            <a:ext cx="22860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250" b="0">
                <a:solidFill>
                  <a:srgbClr val="1E2933"/>
                </a:solidFill>
                <a:latin typeface="Pretendard"/>
              </a:rPr>
              <a:t>금융공기업 · 보험사 지원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250" b="0">
                <a:solidFill>
                  <a:srgbClr val="1E2933"/>
                </a:solidFill>
                <a:latin typeface="Pretendard"/>
              </a:rPr>
              <a:t>원하는 직무에서 커리어 시작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1">
                <a:solidFill>
                  <a:srgbClr val="7E9908"/>
                </a:solidFill>
                <a:latin typeface="Pretendard"/>
              </a:rPr>
              <a:t>▸ </a:t>
            </a:r>
            <a:r>
              <a:rPr sz="1250" b="0">
                <a:solidFill>
                  <a:srgbClr val="1E2933"/>
                </a:solidFill>
                <a:latin typeface="Pretendard"/>
              </a:rPr>
              <a:t>입사 후에도 꾸준히 성장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6F016"/>
                </a:solidFill>
                <a:latin typeface="Pretendard"/>
              </a:rPr>
              <a:t>LINKAGE  ·  활동과 목표의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활동 - 역량 -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77295" y="301752"/>
            <a:ext cx="457200" cy="457200"/>
          </a:xfrm>
          <a:prstGeom prst="round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E4F"/>
                </a:solidFill>
                <a:latin typeface="Pretendard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468880" cy="54864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6F016"/>
                </a:solidFill>
                <a:latin typeface="Pretendard"/>
              </a:rPr>
              <a:t>해온 활동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463040"/>
            <a:ext cx="2834640" cy="54864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6F016"/>
                </a:solidFill>
                <a:latin typeface="Pretendard"/>
              </a:rPr>
              <a:t>기른 역량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63040"/>
            <a:ext cx="2834640" cy="54864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6F016"/>
                </a:solidFill>
                <a:latin typeface="Pretendard"/>
              </a:rPr>
              <a:t>앞으로 계획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788920" cy="548640"/>
          </a:xfrm>
          <a:prstGeom prst="round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6F016"/>
                </a:solidFill>
                <a:latin typeface="Pretendard"/>
              </a:rPr>
              <a:t>연결되는 목표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1106424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48840"/>
            <a:ext cx="2286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2E4F"/>
                </a:solidFill>
                <a:latin typeface="Pretendard"/>
              </a:rPr>
              <a:t>서포크레딧·주택금융 서포터즈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148840"/>
            <a:ext cx="26517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3"/>
                </a:solidFill>
                <a:latin typeface="Pretendard"/>
              </a:rPr>
              <a:t>콘텐츠 기획·전달력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2148840"/>
            <a:ext cx="26517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3"/>
                </a:solidFill>
                <a:latin typeface="Pretendard"/>
              </a:rPr>
              <a:t>현장실습·고객 응대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148840"/>
            <a:ext cx="26060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7E9908"/>
                </a:solidFill>
                <a:latin typeface="Pretendard"/>
              </a:rPr>
              <a:t>금융공기업 직무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359152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7E9908"/>
                </a:solidFill>
                <a:latin typeface="Pretendard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359152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7E9908"/>
                </a:solidFill>
                <a:latin typeface="Pretendard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359152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7E9908"/>
                </a:solidFill>
                <a:latin typeface="Pretendard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0672"/>
            <a:ext cx="11064240" cy="896112"/>
          </a:xfrm>
          <a:prstGeom prst="roundRect">
            <a:avLst/>
          </a:prstGeom>
          <a:solidFill>
            <a:srgbClr val="EDF2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36392"/>
            <a:ext cx="2286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2E4F"/>
                </a:solidFill>
                <a:latin typeface="Pretendard"/>
              </a:rPr>
              <a:t>소우주 기업 프로젝트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2968" y="3136392"/>
            <a:ext cx="26517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3"/>
                </a:solidFill>
                <a:latin typeface="Pretendard"/>
              </a:rPr>
              <a:t>분석·문제해결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3136392"/>
            <a:ext cx="26517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3"/>
                </a:solidFill>
                <a:latin typeface="Pretendard"/>
              </a:rPr>
              <a:t>자료 분석 학습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3136392"/>
            <a:ext cx="26060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7E9908"/>
                </a:solidFill>
                <a:latin typeface="Pretendard"/>
              </a:rPr>
              <a:t>상품·전략 직무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346704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7E9908"/>
                </a:solidFill>
                <a:latin typeface="Pretendard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346704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7E9908"/>
                </a:solidFill>
                <a:latin typeface="Pretendard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346704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7E9908"/>
                </a:solidFill>
                <a:latin typeface="Pretendard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78224"/>
            <a:ext cx="1106424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123944"/>
            <a:ext cx="2286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2E4F"/>
                </a:solidFill>
                <a:latin typeface="Pretendard"/>
              </a:rPr>
              <a:t>사회리더 멘토링 팀 발표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72968" y="4123944"/>
            <a:ext cx="26517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3"/>
                </a:solidFill>
                <a:latin typeface="Pretendard"/>
              </a:rPr>
              <a:t>협업·커뮤니케이션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328" y="4123944"/>
            <a:ext cx="26517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3"/>
                </a:solidFill>
                <a:latin typeface="Pretendard"/>
              </a:rPr>
              <a:t>포트폴리오 협업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3688" y="4123944"/>
            <a:ext cx="26060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7E9908"/>
                </a:solidFill>
                <a:latin typeface="Pretendard"/>
              </a:rPr>
              <a:t>조직 기반 실무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334256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7E9908"/>
                </a:solidFill>
                <a:latin typeface="Pretendard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34256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7E9908"/>
                </a:solidFill>
                <a:latin typeface="Pretendard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334256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7E9908"/>
                </a:solidFill>
                <a:latin typeface="Pretendard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065776"/>
            <a:ext cx="11064240" cy="896112"/>
          </a:xfrm>
          <a:prstGeom prst="roundRect">
            <a:avLst/>
          </a:prstGeom>
          <a:solidFill>
            <a:srgbClr val="EDF2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111496"/>
            <a:ext cx="2286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2E4F"/>
                </a:solidFill>
                <a:latin typeface="Pretendard"/>
              </a:rPr>
              <a:t>10개월 멘토링 완주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72968" y="5111496"/>
            <a:ext cx="26517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3"/>
                </a:solidFill>
                <a:latin typeface="Pretendard"/>
              </a:rPr>
              <a:t>책임감·꾸준함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8" y="5111496"/>
            <a:ext cx="26517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3"/>
                </a:solidFill>
                <a:latin typeface="Pretendard"/>
              </a:rPr>
              <a:t>자격증 준비 완주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5111496"/>
            <a:ext cx="26060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7E9908"/>
                </a:solidFill>
                <a:latin typeface="Pretendard"/>
              </a:rPr>
              <a:t>장기 고객관리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321808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7E9908"/>
                </a:solidFill>
                <a:latin typeface="Pretendard"/>
              </a:rP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5321808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7E9908"/>
                </a:solidFill>
                <a:latin typeface="Pretendard"/>
              </a:rPr>
              <a:t>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321808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7E9908"/>
                </a:solidFill>
                <a:latin typeface="Pretendard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099048"/>
            <a:ext cx="11064240" cy="502920"/>
          </a:xfrm>
          <a:prstGeom prst="roundRect">
            <a:avLst/>
          </a:prstGeom>
          <a:solidFill>
            <a:srgbClr val="1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해온 활동에서 기른 역량을, 앞으로의 계획으로 이어 원하는 목표까지 연결합니다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0800"/>
          </a:xfrm>
          <a:prstGeom prst="rect">
            <a:avLst/>
          </a:prstGeom>
          <a:solidFill>
            <a:srgbClr val="C6F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C6F016"/>
                </a:solidFill>
                <a:latin typeface="Pretendard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965960"/>
            <a:ext cx="12191695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Pretendard"/>
              </a:rPr>
              <a:t>직접 경험하며 찾은 관심을</a:t>
            </a:r>
          </a:p>
          <a:p>
            <a:pPr algn="ctr">
              <a:spcBef>
                <a:spcPts val="600"/>
              </a:spcBef>
            </a:pPr>
            <a:r>
              <a:rPr sz="3000" b="1">
                <a:solidFill>
                  <a:srgbClr val="FFFFFF"/>
                </a:solidFill>
                <a:latin typeface="Pretendard"/>
              </a:rPr>
              <a:t>한 걸음씩 목표로 만들어 가겠습니다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1695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C5D2E0"/>
                </a:solidFill>
                <a:latin typeface="Pretendard"/>
              </a:rPr>
              <a:t>다음 학기 현장실습을 시작으로, 지금까지 쌓아온 활동 경험을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C5D2E0"/>
                </a:solidFill>
                <a:latin typeface="Pretendard"/>
              </a:rPr>
              <a:t>계획에 따라 발전시켜 금융공기업 · 보험사 입사라는 목표에 다가가겠습니다.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2647" y="5029200"/>
            <a:ext cx="5486400" cy="640080"/>
          </a:xfrm>
          <a:prstGeom prst="roundRect">
            <a:avLst/>
          </a:prstGeom>
          <a:solidFill>
            <a:srgbClr val="1B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국민대학교 경영대학 재무금융전공  |  조예진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C6F016"/>
                </a:solidFill>
                <a:latin typeface="Pretendar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